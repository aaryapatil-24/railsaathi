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79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17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9627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D4080">
              <a:alpha val="45000"/>
            </a:srgbClr>
          </a:solidFill>
          <a:ln w="12700">
            <a:solidFill>
              <a:srgbClr val="1D4080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🚂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11480" y="1508760"/>
            <a:ext cx="8321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1577340"/>
            <a:ext cx="7772400" cy="1485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" sz="3200" b="1" dirty="0">
                <a:solidFill>
                  <a:schemeClr val="accent2">
                    <a:lumMod val="75000"/>
                  </a:schemeClr>
                </a:solidFill>
              </a:rPr>
              <a:t>Develop a micro language model using TensorFlow for Ministry of Railways </a:t>
            </a:r>
            <a:endParaRPr lang="en-US" sz="32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11480" y="3090672"/>
            <a:ext cx="5486400" cy="36576"/>
          </a:xfrm>
          <a:prstGeom prst="rect">
            <a:avLst/>
          </a:prstGeom>
          <a:solidFill>
            <a:srgbClr val="1D4080"/>
          </a:solidFill>
          <a:ln w="12700">
            <a:solidFill>
              <a:srgbClr val="1D4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3959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84632" y="4370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3959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64992" y="4370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45352" y="3959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45352" y="4370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7546D-B442-36C6-6275-BB6BEDF422BB}"/>
              </a:ext>
            </a:extLst>
          </p:cNvPr>
          <p:cNvSpPr txBox="1"/>
          <p:nvPr/>
        </p:nvSpPr>
        <p:spPr>
          <a:xfrm>
            <a:off x="502920" y="3315700"/>
            <a:ext cx="54761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Deepa Pandey, Aarya Patil, Karan </a:t>
            </a:r>
            <a:r>
              <a:rPr lang="en-US" dirty="0" err="1">
                <a:solidFill>
                  <a:schemeClr val="bg1"/>
                </a:solidFill>
              </a:rPr>
              <a:t>Ramrakhiani</a:t>
            </a:r>
            <a:r>
              <a:rPr lang="en-US" dirty="0">
                <a:solidFill>
                  <a:schemeClr val="bg1"/>
                </a:solidFill>
              </a:rPr>
              <a:t>, Dev Patel</a:t>
            </a:r>
          </a:p>
          <a:p>
            <a:r>
              <a:rPr lang="en-US" sz="1400" dirty="0">
                <a:solidFill>
                  <a:schemeClr val="bg1"/>
                </a:solidFill>
              </a:rPr>
              <a:t>Group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09728" cy="128016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0241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RailSaathi?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389888"/>
            <a:ext cx="81381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RailSaathi is a micro-scale language model trained exclusively on Indian Railways rules and regulations. Given a partial railway-related phrase, it completes the sentence based on rules it has learned — functioning as an AI assistant for railways compliance and information.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423160"/>
            <a:ext cx="2788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423160"/>
            <a:ext cx="2788920" cy="54864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420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84048" y="31729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3547872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passengers &amp; officials quickly retrieve relevant Indian Railways Act clauses, rules, fines, and entitlements via an AI-powered phrase completion interface.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82112" y="2423160"/>
            <a:ext cx="2788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2423160"/>
            <a:ext cx="2788920" cy="54864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25420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91840" y="31729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73552" y="3547872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Railways officials, railway staff, passengers, and legal teams who need fast access to rule-based information without reading the full Railways Act.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9904" y="2423160"/>
            <a:ext cx="278892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2423160"/>
            <a:ext cx="2788920" cy="54864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9904" y="254203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199632" y="317296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81344" y="3547872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TensorFlow LSTM model (under 3 lakh parameters) trained on curated Railways Act data — deployable on low-resource government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Augmentation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690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09728" cy="38862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(railway_data.txt)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Railways Act 1989 core provisions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rule updates (ARP, WL fines, berths)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tickets, fines, baggage, TDR, refunds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to 5,000 sentences via augment.py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randomly for uniform training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42976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960120"/>
            <a:ext cx="109728" cy="388620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515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augment.py Works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73168" y="1508760"/>
            <a:ext cx="347472" cy="347472"/>
          </a:xfrm>
          <a:prstGeom prst="ellipse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5087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30368" y="14996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Sentences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30368" y="17830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original legal sentences as the base corpus.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73168" y="2331720"/>
            <a:ext cx="347472" cy="347472"/>
          </a:xfrm>
          <a:prstGeom prst="ellipse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30368" y="232257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Replacement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230368" y="26060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like 'passenger', 'ticket', 'fine' are randomly swapped with domain synonyms (e.g. 'traveller', 'pass', 'penalty').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73168" y="3154680"/>
            <a:ext cx="347472" cy="347472"/>
          </a:xfrm>
          <a:prstGeom prst="ellipse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154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230368" y="31455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 Selection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30368" y="34290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probability per word — keeps sentences natural, not robotic.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73168" y="3977640"/>
            <a:ext cx="347472" cy="347472"/>
          </a:xfrm>
          <a:prstGeom prst="ellipse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73168" y="3977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30368" y="396849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Generation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30368" y="425196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runs until 5,000 varied sentences are produced, then shuffled.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731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Sequential LSTM — 2,81,384 trainable parameters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1572768" cy="2560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D4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1261872"/>
            <a:ext cx="1572768" cy="9144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444752"/>
            <a:ext cx="384048" cy="384048"/>
          </a:xfrm>
          <a:prstGeom prst="ellipse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" y="192024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2578608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× 64 dims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2487168"/>
            <a:ext cx="146304" cy="54864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6544" y="1261872"/>
            <a:ext cx="1572768" cy="2560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D40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66544" y="1261872"/>
            <a:ext cx="1572768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60904" y="144475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60904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39696" y="192024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Layer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39696" y="2578608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units, return_sequences=True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39312" y="2487168"/>
            <a:ext cx="146304" cy="54864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85616" y="1261872"/>
            <a:ext cx="1572768" cy="2560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D4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85616" y="1261872"/>
            <a:ext cx="1572768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79976" y="1444752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79976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858768" y="192024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Layer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58768" y="2578608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58384" y="2487168"/>
            <a:ext cx="146304" cy="54864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04688" y="1261872"/>
            <a:ext cx="1572768" cy="2560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D40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04688" y="1261872"/>
            <a:ext cx="1572768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9048" y="144475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99048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77840" y="192024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(ReLU)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77840" y="2578608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units, activation='relu'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77456" y="2487168"/>
            <a:ext cx="146304" cy="54864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23760" y="1261872"/>
            <a:ext cx="1572768" cy="2560320"/>
          </a:xfrm>
          <a:prstGeom prst="rect">
            <a:avLst/>
          </a:prstGeom>
          <a:solidFill>
            <a:srgbClr val="1A5276"/>
          </a:solidFill>
          <a:ln w="12700">
            <a:solidFill>
              <a:srgbClr val="1D40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23760" y="1261872"/>
            <a:ext cx="1572768" cy="914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18120" y="144475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18120" y="14447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96912" y="192024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(Softmax)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96912" y="2578608"/>
            <a:ext cx="14264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total_words units — probability over vocab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" y="4005072"/>
            <a:ext cx="2743200" cy="868680"/>
          </a:xfrm>
          <a:prstGeom prst="rect">
            <a:avLst/>
          </a:prstGeom>
          <a:solidFill>
            <a:srgbClr val="14305A"/>
          </a:solidFill>
          <a:ln w="12700">
            <a:solidFill>
              <a:srgbClr val="1D40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38912" y="43616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word tokens to 64-dimensional dense vectors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55264" y="4005072"/>
            <a:ext cx="2743200" cy="868680"/>
          </a:xfrm>
          <a:prstGeom prst="rect">
            <a:avLst/>
          </a:prstGeom>
          <a:solidFill>
            <a:srgbClr val="14305A"/>
          </a:solidFill>
          <a:ln w="12700">
            <a:solidFill>
              <a:srgbClr val="1D40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46704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x2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3346704" y="43616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sequential dependencies across token windows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63056" y="4005072"/>
            <a:ext cx="2743200" cy="868680"/>
          </a:xfrm>
          <a:prstGeom prst="rect">
            <a:avLst/>
          </a:prstGeom>
          <a:solidFill>
            <a:srgbClr val="14305A"/>
          </a:solidFill>
          <a:ln w="12700">
            <a:solidFill>
              <a:srgbClr val="1D40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40416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254496" y="43616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probability distribution over full vocabulary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— app.py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06240" cy="64008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24712"/>
            <a:ext cx="502920" cy="41148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247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11247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Clean 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4721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8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load_and_clean_text()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7830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railway_data.txt, converts to lowercase, strips non-alphanumeric characters with regex, collapses whitespace. Produces a clean token stream.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60120"/>
            <a:ext cx="4206240" cy="64008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1124712"/>
            <a:ext cx="502920" cy="41148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1247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22392" y="11247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&amp; Sequence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22392" y="147218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8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prepare_data(text)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18888" y="178308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Tokenizer builds vocabulary. Creates N-gram sequences of length SEQ_LENGTH+1 (10 inputs + 1 label). X is the first 10 tokens; y is one-hot encoded next token.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4206240" cy="64008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090672"/>
            <a:ext cx="502920" cy="41148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0906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87552" y="3090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Model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87552" y="3438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8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build_model(total_words)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37490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model with Embedding → LSTM(128) → LSTM(64) → Dense(64, ReLU) → Dense(vocab, Softmax). Compiled with Adam optimizer and categorical cross-entropy loss.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292608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926080"/>
            <a:ext cx="4206240" cy="64008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18888" y="3090672"/>
            <a:ext cx="502920" cy="41148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0906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83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22392" y="309067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Save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22392" y="3438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483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model.fit(X, y, epochs=300)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18888" y="374904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training epochs on full dataset. Saved as railway_model.keras. Tokenizer pickled to tokenizer.pkl for consistent vocabulary during inference.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 — How Inference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09728" cy="141732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generate_text() — Retrieval-Based Completion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399032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auto-regressively sampling from the LSTM's probability distribution, RailSaathi uses the trained model as a knowledge filter. The generate_text() function compares the user's seed phrase against all 5,000 training sentences using word overlap scoring (set intersection). The sentence with the highest overlap score is returned as the completion — guaranteeing factually grounded, Railways Act-compliant responses.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78608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578608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65760" y="3401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47472" y="37947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 train is delayed"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0" y="3657600"/>
            <a:ext cx="182880" cy="54864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2578608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2578608"/>
            <a:ext cx="201168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🔢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2560320" y="3401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 Input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42032" y="37947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word set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3657600"/>
            <a:ext cx="182880" cy="54864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578608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578608"/>
            <a:ext cx="2011680" cy="64008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754880" y="3401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Sentences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736592" y="37947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intersection count vs all 5,000 sentences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3657600"/>
            <a:ext cx="182880" cy="54864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0" y="2578608"/>
            <a:ext cx="20116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0" y="2578608"/>
            <a:ext cx="2011680" cy="64008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27432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949440" y="3401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Best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931152" y="379476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scoring sentence returned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Chat Interface — app.py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69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09728" cy="3931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Features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Chat-bubble layout — user right, bot left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Custom CSS injected via st.markdown(unsafe_allow_html)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Blue user bubbles / light gray bot bubbles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RailSaathi bot label with uppercase styling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One-click example phrases (6 seed inputs)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st.session_state for persistent chat history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Train Model button with spinner feedback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st.rerun() to refresh UI after each message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36592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Preview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572768"/>
            <a:ext cx="2487168" cy="640080"/>
          </a:xfrm>
          <a:prstGeom prst="roundRect">
            <a:avLst>
              <a:gd name="adj" fmla="val 21429"/>
            </a:avLst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1591056"/>
            <a:ext cx="24231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train is cancelled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36592" y="23591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RAILSAATHI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36592" y="2560320"/>
            <a:ext cx="3977640" cy="1234440"/>
          </a:xfrm>
          <a:prstGeom prst="roundRect">
            <a:avLst>
              <a:gd name="adj" fmla="val 11111"/>
            </a:avLst>
          </a:prstGeom>
          <a:solidFill>
            <a:srgbClr val="F0F2F6"/>
          </a:solidFill>
          <a:ln w="12700">
            <a:solidFill>
              <a:srgbClr val="F0F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2587752"/>
            <a:ext cx="3886200" cy="11704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train is cancelled by indian railways passengers are entitled to a full refund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4206240"/>
            <a:ext cx="4297680" cy="5486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422452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Railway phrase…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55280" y="4233672"/>
            <a:ext cx="804672" cy="45720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0" y="4233672"/>
            <a:ext cx="804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F3C"/>
          </a:solidFill>
          <a:ln w="12700">
            <a:solidFill>
              <a:srgbClr val="0A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73152"/>
            <a:ext cx="8412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Railways Rules Covered by the Model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276148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32688"/>
            <a:ext cx="2761488" cy="64008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241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Ticketing &amp; Fares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408176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booking: 60 days (reduced from 120)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Tatkal tickets non-refundable except cancellation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charge for travel beyond destination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ticket: ₹50 for sleeper class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932688"/>
            <a:ext cx="276148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932688"/>
            <a:ext cx="2761488" cy="64008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0241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🛏️ Berth &amp; Reservation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73552" y="1408176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berth auto-allotted to seniors 60+, pregnant women, disabled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 passengers cannot board AC/Sleeper coaches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 fine: ₹440 (AC), ₹250 (Sleeper)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 passengers entitled to sleeping berth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932688"/>
            <a:ext cx="276148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932688"/>
            <a:ext cx="2761488" cy="64008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024128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Offences &amp; Fines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81344" y="1408176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Smoking, intoxication, infectious disease travel — all fineable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Obstructing railway servant: punishable offence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in female compartment: fine levied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Unlawful entry onto railway premises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6148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276148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1752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Concessions &amp; Refunds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3401568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 60+: 40% concession (Sleeper)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with disability: 50% concession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failure: refund of AC–non-AC fare diff.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 filing: within 72 hrs of actual arrival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82112" y="2926080"/>
            <a:ext cx="276148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2926080"/>
            <a:ext cx="276148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301752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🧳 Baggage Rules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73552" y="3401568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AC: 70 kg, 2nd AC: 50 kg, Sleeper: 40 kg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class: 35 kg free baggage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baggage: 1.5× standard rate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dimension: 160 cm (L+B+W)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9904" y="2926080"/>
            <a:ext cx="276148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2926080"/>
            <a:ext cx="2761488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3017520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Grievances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81344" y="3401568"/>
            <a:ext cx="260604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Helpline 139 for complaints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Madad portal for grievances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Overcharging by pantry staff: reportable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 extension possible via TTE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831F"/>
          </a:solidFill>
          <a:ln w="12700">
            <a:solidFill>
              <a:srgbClr val="F483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D4080">
              <a:alpha val="40000"/>
            </a:srgbClr>
          </a:solidFill>
          <a:ln w="12700">
            <a:solidFill>
              <a:srgbClr val="1D408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3313" y="1000847"/>
            <a:ext cx="8229600" cy="32978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</a:t>
            </a:r>
          </a:p>
          <a:p>
            <a:pPr marL="0" indent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You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347472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Ministry of Railways · TensorFlow + Streamlit · Python 3.11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</TotalTime>
  <Words>1019</Words>
  <Application>Microsoft Macintosh PowerPoint</Application>
  <PresentationFormat>On-screen Show (16:9)</PresentationFormat>
  <Paragraphs>150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RailSaathi — Micro Language Model</dc:title>
  <dc:subject>PptxGenJS Presentation</dc:subject>
  <dc:creator>PptxGenJS</dc:creator>
  <cp:lastModifiedBy>Karan</cp:lastModifiedBy>
  <cp:revision>6</cp:revision>
  <dcterms:created xsi:type="dcterms:W3CDTF">2026-03-30T01:19:53Z</dcterms:created>
  <dcterms:modified xsi:type="dcterms:W3CDTF">2026-04-24T01:57:19Z</dcterms:modified>
</cp:coreProperties>
</file>